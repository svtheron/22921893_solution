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8" autoAdjust="0"/>
    <p:restoredTop sz="94625" autoAdjust="0"/>
  </p:normalViewPr>
  <p:slideViewPr>
    <p:cSldViewPr snapToGrid="0" snapToObjects="1">
      <p:cViewPr varScale="1">
        <p:scale>
          <a:sx n="92" d="100"/>
          <a:sy n="92" d="100"/>
        </p:scale>
        <p:origin x="176" y="15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DA705-BA20-D041-8081-F3CC70A7DEE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8C4F6-32D1-B046-A923-1226C98BB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0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8C4F6-32D1-B046-A923-1226C98BB9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14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Local Coffee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Cost vs Rating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dirty="0"/>
              <a:t>Higher ratings cluster at higher cost, with broad overlap in the mid-range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However, the primary concern for a coffee entrepreneur should be </a:t>
            </a:r>
            <a:r>
              <a:rPr lang="en-US" b="1" dirty="0"/>
              <a:t>value.</a:t>
            </a:r>
            <a:endParaRPr b="1" dirty="0"/>
          </a:p>
        </p:txBody>
      </p:sp>
      <p:pic>
        <p:nvPicPr>
          <p:cNvPr id="3" name="Picture 1" descr="22921893Question1_pptx_files/22921893Question1_pptx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17500"/>
            <a:ext cx="51054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Cost and rating.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933" y="109790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Defining a Value Metric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7843" y="1189913"/>
            <a:ext cx="3008313" cy="1495424"/>
          </a:xfrm>
        </p:spPr>
        <p:txBody>
          <a:bodyPr/>
          <a:lstStyle/>
          <a:p>
            <a:pPr lvl="0"/>
            <a:r>
              <a:rPr dirty="0"/>
              <a:t>Value = rating ÷ cost per 100g — rating earned per dollar spent</a:t>
            </a:r>
          </a:p>
          <a:p>
            <a:pPr lvl="0"/>
            <a:r>
              <a:rPr dirty="0"/>
              <a:t>Value ranges 0.7-81.4 (mean 15.4, median 16.0)</a:t>
            </a:r>
          </a:p>
          <a:p>
            <a:pPr lvl="0"/>
            <a:r>
              <a:rPr dirty="0"/>
              <a:t>Cost is right-skewed; ratings are tightly clustered (84-98)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7806618"/>
              </p:ext>
            </p:extLst>
          </p:nvPr>
        </p:nvGraphicFramePr>
        <p:xfrm>
          <a:off x="1961357" y="2767712"/>
          <a:ext cx="51054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cost_per_100g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93.0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81.4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Top Value Roasters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Minimum 5 coffees required to qualify, to avoid lucky outliers</a:t>
            </a:r>
          </a:p>
          <a:p>
            <a:pPr lvl="0"/>
            <a:r>
              <a:t>Mr. Chao Coffee, El Gran Cafe, and Jackrabbit Java lead with median values around 22-25 — well above the sample median of 16.0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18100" cy="49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median_value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Mr. Chao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El Gran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Jackrabbit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Coffee By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Kakalove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Mystic Monk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Propeller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San Francisco Bay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Espresso Republic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Creation Food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D40448-F68F-DF26-77E6-304F8B0CE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Indicators of Good Coffee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Stellenbosch students’ top keywords for good coffee:</a:t>
            </a:r>
          </a:p>
          <a:p>
            <a:pPr lvl="0"/>
            <a:r>
              <a:t>Sweet</a:t>
            </a:r>
          </a:p>
          <a:p>
            <a:pPr lvl="0"/>
            <a:r>
              <a:t>Finish</a:t>
            </a:r>
          </a:p>
          <a:p>
            <a:pPr lvl="0"/>
            <a:r>
              <a:t>Mouthfeel</a:t>
            </a:r>
          </a:p>
          <a:p>
            <a:pPr lvl="0"/>
            <a:r>
              <a:t>Structure</a:t>
            </a:r>
          </a:p>
          <a:p>
            <a:pPr lvl="0"/>
            <a:r>
              <a:t>Aroma</a:t>
            </a:r>
          </a:p>
          <a:p>
            <a:pPr lvl="0"/>
            <a:r>
              <a:t>Chocolate</a:t>
            </a:r>
          </a:p>
          <a:p>
            <a:pPr lvl="0"/>
            <a:r>
              <a:t>Toned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Value + Keyword Tradeoff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Adding average keyword count per roaster reveals a tradeoff: the highest-rated roasters (e.g. Kakalove Cafe) are pricier and not necessarily richer in desirable keywords</a:t>
            </a:r>
          </a:p>
          <a:p>
            <a:pPr lvl="0"/>
            <a:r>
              <a:t>Mystic Monk Coffee and Creation Food Co. stand out with high keyword averages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6869501"/>
              </p:ext>
            </p:extLst>
          </p:nvPr>
        </p:nvGraphicFramePr>
        <p:xfrm>
          <a:off x="3568699" y="47538"/>
          <a:ext cx="5118100" cy="5285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3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median_value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 err="1"/>
                        <a:t>total_keywords_mean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9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Mr. Chao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El Gran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Jackrabbit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9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Coffee By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78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Kakalove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Mystic Monk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Propeller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San Francisco Bay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1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Espresso Republic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9.36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Creation Food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10.60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424CD9-32A3-FFAB-4E40-90C82BB9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Which Roaster is the Best?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dirty="0"/>
              <a:t>Rating and cost are positively related across roasters</a:t>
            </a:r>
          </a:p>
          <a:p>
            <a:pPr lvl="0"/>
            <a:r>
              <a:rPr dirty="0"/>
              <a:t>Mystic Monk Coffee, Creation Food Co., and Corvus Coffee Roasters most often use desirable keywords</a:t>
            </a:r>
          </a:p>
          <a:p>
            <a:pPr lvl="0"/>
            <a:r>
              <a:rPr dirty="0"/>
              <a:t>Of these, Mystic Monk Coffee and Creation Food Co. also rank in the top value table — making them the strongest overall picks</a:t>
            </a:r>
          </a:p>
        </p:txBody>
      </p:sp>
      <p:pic>
        <p:nvPicPr>
          <p:cNvPr id="3" name="Picture 1" descr="22921893Question1_pptx_files/22921893Question1_pptx_files/figure-pptx/unnamed-chunk-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10357"/>
            <a:ext cx="5338273" cy="381115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Macintosh PowerPoint</Application>
  <PresentationFormat>On-screen Show (16:9)</PresentationFormat>
  <Paragraphs>175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Local Coffee Report</vt:lpstr>
      <vt:lpstr>Cost vs Rating</vt:lpstr>
      <vt:lpstr>Defining a Value Metric</vt:lpstr>
      <vt:lpstr>Top Value Roasters</vt:lpstr>
      <vt:lpstr>Indicators of Good Coffee</vt:lpstr>
      <vt:lpstr>Value + Keyword Tradeoff</vt:lpstr>
      <vt:lpstr>Which Roaster is the Best?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Coffee Report</dc:title>
  <dc:creator/>
  <cp:keywords/>
  <cp:lastModifiedBy>Theron, SV, Mnr [22921893@sun.ac.za]</cp:lastModifiedBy>
  <cp:revision>1</cp:revision>
  <dcterms:created xsi:type="dcterms:W3CDTF">2026-06-18T16:45:28Z</dcterms:created>
  <dcterms:modified xsi:type="dcterms:W3CDTF">2026-06-18T17:07:51Z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>powerpoint_presentation</vt:lpwstr>
  </property>
</Properties>
</file>